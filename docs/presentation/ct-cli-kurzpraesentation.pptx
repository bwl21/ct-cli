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356cfa3b8d4335" /><Relationship Type="http://schemas.openxmlformats.org/officeDocument/2006/relationships/extended-properties" Target="/docProps/app.xml" Id="R05d23ceaba384962" /><Relationship Type="http://schemas.openxmlformats.org/officeDocument/2006/relationships/officeDocument" Target="/ppt/presentation.xml" Id="R3e049006ac204c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e24a5dd8cb43d6"/>
  </p:sldMasterIdLst>
  <p:notesMasterIdLst>
    <p:notesMasterId xmlns:r="http://schemas.openxmlformats.org/officeDocument/2006/relationships" r:id="Rb4d15efb46e34d95"/>
  </p:notesMasterIdLst>
  <p:sldIdLst>
    <p:sldId xmlns:r="http://schemas.openxmlformats.org/officeDocument/2006/relationships" id="256" r:id="Re45379d5c9314f23"/>
    <p:sldId xmlns:r="http://schemas.openxmlformats.org/officeDocument/2006/relationships" id="257" r:id="R813e01c6b51c416f"/>
    <p:sldId xmlns:r="http://schemas.openxmlformats.org/officeDocument/2006/relationships" id="258" r:id="R21c5a0a49ba64b9b"/>
    <p:sldId xmlns:r="http://schemas.openxmlformats.org/officeDocument/2006/relationships" id="259" r:id="R614dc475bb264a29"/>
    <p:sldId xmlns:r="http://schemas.openxmlformats.org/officeDocument/2006/relationships" id="260" r:id="R772f5d94c2d0446e"/>
    <p:sldId xmlns:r="http://schemas.openxmlformats.org/officeDocument/2006/relationships" id="261" r:id="Rb714420402474a25"/>
    <p:sldId xmlns:r="http://schemas.openxmlformats.org/officeDocument/2006/relationships" id="262" r:id="Ra1c47b9afddb4724"/>
    <p:sldId xmlns:r="http://schemas.openxmlformats.org/officeDocument/2006/relationships" id="263" r:id="R8f00a641dfb84290"/>
    <p:sldId xmlns:r="http://schemas.openxmlformats.org/officeDocument/2006/relationships" id="264" r:id="Re8cfc655929644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c5a38593b74893" /><Relationship Type="http://schemas.openxmlformats.org/officeDocument/2006/relationships/slideMaster" Target="/ppt/slideMasters/slideMaster1.xml" Id="R95e24a5dd8cb43d6" /><Relationship Type="http://schemas.openxmlformats.org/officeDocument/2006/relationships/notesMaster" Target="/ppt/notesMasters/notesMaster1.xml" Id="Rb4d15efb46e34d95" /><Relationship Type="http://schemas.openxmlformats.org/officeDocument/2006/relationships/presProps" Target="/ppt/presProps.xml" Id="R051458eca8174a6b" /><Relationship Type="http://schemas.openxmlformats.org/officeDocument/2006/relationships/tableStyles" Target="/ppt/tableStyles.xml" Id="R00b1f618291e4232" /><Relationship Type="http://schemas.openxmlformats.org/officeDocument/2006/relationships/slide" Target="/ppt/slides/slide1.xml" Id="Re45379d5c9314f23" /><Relationship Type="http://schemas.openxmlformats.org/officeDocument/2006/relationships/slide" Target="/ppt/slides/slide2.xml" Id="R813e01c6b51c416f" /><Relationship Type="http://schemas.openxmlformats.org/officeDocument/2006/relationships/slide" Target="/ppt/slides/slide3.xml" Id="R21c5a0a49ba64b9b" /><Relationship Type="http://schemas.openxmlformats.org/officeDocument/2006/relationships/slide" Target="/ppt/slides/slide4.xml" Id="R614dc475bb264a29" /><Relationship Type="http://schemas.openxmlformats.org/officeDocument/2006/relationships/slide" Target="/ppt/slides/slide5.xml" Id="R772f5d94c2d0446e" /><Relationship Type="http://schemas.openxmlformats.org/officeDocument/2006/relationships/slide" Target="/ppt/slides/slide6.xml" Id="Rb714420402474a25" /><Relationship Type="http://schemas.openxmlformats.org/officeDocument/2006/relationships/slide" Target="/ppt/slides/slide7.xml" Id="Ra1c47b9afddb4724" /><Relationship Type="http://schemas.openxmlformats.org/officeDocument/2006/relationships/slide" Target="/ppt/slides/slide8.xml" Id="R8f00a641dfb84290" /><Relationship Type="http://schemas.openxmlformats.org/officeDocument/2006/relationships/slide" Target="/ppt/slides/slide9.xml" Id="Re8cfc655929644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da8831b7c4e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bfb72b12554621" /><Relationship Type="http://schemas.openxmlformats.org/officeDocument/2006/relationships/notesMaster" Target="/ppt/notesMasters/notesMaster1.xml" Id="Rdf6367e8b78f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6d135e90546be" /><Relationship Type="http://schemas.openxmlformats.org/officeDocument/2006/relationships/notesMaster" Target="/ppt/notesMasters/notesMaster1.xml" Id="R52f18a9d198446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bddd2933ed4b62" /><Relationship Type="http://schemas.openxmlformats.org/officeDocument/2006/relationships/notesMaster" Target="/ppt/notesMasters/notesMaster1.xml" Id="Rae5ac666e9c94e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59e2f86864e3e" /><Relationship Type="http://schemas.openxmlformats.org/officeDocument/2006/relationships/notesMaster" Target="/ppt/notesMasters/notesMaster1.xml" Id="R40a69a814cde4b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f12f066f764ddb" /><Relationship Type="http://schemas.openxmlformats.org/officeDocument/2006/relationships/notesMaster" Target="/ppt/notesMasters/notesMaster1.xml" Id="R286576f2382848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c02a132034f4d" /><Relationship Type="http://schemas.openxmlformats.org/officeDocument/2006/relationships/notesMaster" Target="/ppt/notesMasters/notesMaster1.xml" Id="Rf66eb40aaafb43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009fb8aa114c9c" /><Relationship Type="http://schemas.openxmlformats.org/officeDocument/2006/relationships/notesMaster" Target="/ppt/notesMasters/notesMaster1.xml" Id="Rfaece4678efd46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26fb07907f43e3" /><Relationship Type="http://schemas.openxmlformats.org/officeDocument/2006/relationships/notesMaster" Target="/ppt/notesMasters/notesMaster1.xml" Id="R94c4a567f44842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93771a5d004b7b" /><Relationship Type="http://schemas.openxmlformats.org/officeDocument/2006/relationships/notesMaster" Target="/ppt/notesMasters/notesMaster1.xml" Id="R5242472ce713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Terraform-Analogie ist nicht nur 'Konfiguration liegt in Git'. Entscheidend ist der vollständige Zyklus vom realen System zum überprüften Soll-Zustand.</a:t>
            </a:r>
          </a:p>
          <a:p xmlns:a="http://schemas.openxmlformats.org/drawingml/2006/main">
            <a:r>
              <a:t>Die OJBP-Reise zeigt zugleich, wo ct-cli heute stark ist und wo noch eine große Lücke liegt.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/Users/beweiche/beweiche_noTimeMachine/ct-cli/README.md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fünf Schritte sind bewusst getrennt. Das manuelle Erproben entdeckt den fachlichen Prozess. Adoption dokumentiert den konkreten Bestand. Erst danach entsteht ein wiederverwendbares Modell.</a:t>
            </a:r>
          </a:p>
          <a:p xmlns:a="http://schemas.openxmlformats.org/drawingml/2006/main">
            <a:r>
              <a:t>Der schwierige Sprung ist von Schritt 2 zu Schritt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Infrastructure as Code ersetzt nicht die fachliche Exploration. Ein neuer Prozess wird häufig zunächst manuell aufgebaut und im echten Betrieb korrigiert.</a:t>
            </a:r>
          </a:p>
          <a:p xmlns:a="http://schemas.openxmlformats.org/drawingml/2006/main">
            <a:r>
              <a:t>OJBP bestand sichtbar aus vier Gruppen, tatsächlich aber zusätzlich aus Hierarchie, Mitgliedsfelddefinitionen und dynamischen Regeln.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- /Users/beweiche/beweiche_noTimeMachine/114_bgkt_ct_masterdata/churchtools-processes/processes/ojbp/README.md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Adoption liest ausgewählte ChurchTools-Ressourcen und erzeugt konkrete Deklarationen. Das ist bereits wertvoll: Der Bestand wird sichtbar, versionierbar und planbar.</a:t>
            </a:r>
          </a:p>
          <a:p xmlns:a="http://schemas.openxmlformats.org/drawingml/2006/main">
            <a:r>
              <a:t>Aber diese Deklarationen enthalten hostgebundene IDs, Jahreszahlen und historische Entscheidungen. Sie sind State, noch kein Blueprint.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- /Users/beweiche/beweiche_noTimeMachine/ct-cli/README.md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 ist die zentrale Baustelle. Kopiert man nur den State, kopiert man auch IDs und zufällige Details des Quellsystems.</a:t>
            </a:r>
          </a:p>
          <a:p xmlns:a="http://schemas.openxmlformats.org/drawingml/2006/main">
            <a:r>
              <a:t>Ein Blueprint beantwortet dagegen: Was bleibt gleich? Was wird Parameter? Welche Referenzen müssen logisch statt numerisch sein? Was wird berechnet?</a:t>
            </a:r>
          </a:p>
          <a:p xmlns:a="http://schemas.openxmlformats.org/drawingml/2006/main">
            <a:r>
              <a:t>ct-cli liefert dafür heute keine vollautomatische Transformation.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- /Users/beweiche/beweiche_noTimeMachine/114_bgkt_ct_masterdata/churchtools-processes/processes/ojbp/blueprint/ojbp.ts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 OJBP-Projekt hat der Coding-Agent genau diese Analyse über die adoptierten Deklarationen und die begleitende Konversation durchgeführt.</a:t>
            </a:r>
          </a:p>
          <a:p xmlns:a="http://schemas.openxmlformats.org/drawingml/2006/main">
            <a:r>
              <a:t>Das Ergebnis war eine parametrisierte TypeScript-Funktion. Der Agent war hilfreich, weil die Aufgabe semantisch ist – aber sein Entwurf ist noch kein Beweis.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- /Users/beweiche/beweiche_noTimeMachine/114_bgkt_ct_masterdata/churchtools-processes/processes/ojbp/blueprint/ojbp.ts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 ist die deterministische Vertrauensgrenze. Er vergleicht den gewünschten Zustand aus Code mit dem tatsächlichen ChurchTools-System.</a:t>
            </a:r>
          </a:p>
          <a:p xmlns:a="http://schemas.openxmlformats.org/drawingml/2006/main">
            <a:r>
              <a:t>Hier wird sichtbar, ob die Agenten-Abstraktion wirklich nur die erwarteten Creates und Updates erzeugt – oder unbeabsichtigte Änderungen enthält.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/Users/beweiche/beweiche_noTimeMachine/ct-cli/README.md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führt den zuvor geprüften Plan aus. Danach wird erneut geplant.</a:t>
            </a:r>
          </a:p>
          <a:p xmlns:a="http://schemas.openxmlformats.org/drawingml/2006/main">
            <a:r>
              <a:t>Im Test auf dem zweiten Host ergab der vollständige Folgeplan 49 No-ops. Das ist der praktische Beleg für Idempotenz und Portabilität.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- /Users/beweiche/beweiche_noTimeMachine/114_bgkt_ct_masterdata/churchtools-processes/processes/ojbp/README.md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Lücke ist nun präzise benannt: ct-cli kann adoptieren, planen und anwenden. Die semantische Transformation vom konkreten State zum Blueprint braucht derzeit menschliche oder agentische Modellierungsarbeit.</a:t>
            </a:r>
          </a:p>
          <a:p xmlns:a="http://schemas.openxmlformats.org/drawingml/2006/main">
            <a:r>
              <a:t>Die sichere Arbeitsteilung lautet: Der Agent abstrahiert. Der Mensch bestätigt die Absicht. Der Plan beweist die Auswirkung.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/Users/beweiche/beweiche_noTimeMachine/114_bgkt_ct_masterdata/churchtools-processes/docs/fallstudie-ojbp-vom-bestand-zum-blueprint.md</a:t>
            </a:r>
          </a:p>
          <a:p xmlns:a="http://schemas.openxmlformats.org/drawingml/2006/main">
            <a:r>
              <a:t>- /Users/beweiche/beweiche_noTimeMachine/114_bgkt_ct_masterdata/churchtools-processes/processes/ojbp/blueprint/ojbp.ts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5f1006df44d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950086afd948d7" /><Relationship Type="http://schemas.openxmlformats.org/officeDocument/2006/relationships/slideLayout" Target="/ppt/slideLayouts/slideLayout1.xml" Id="Rd8b49fb56720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49fb56720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460534b5a4093" /><Relationship Type="http://schemas.openxmlformats.org/officeDocument/2006/relationships/notesSlide" Target="/ppt/notesSlides/notesSlide1.xml" Id="R34f63899460f4e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0c1b60b4241ce" /><Relationship Type="http://schemas.openxmlformats.org/officeDocument/2006/relationships/notesSlide" Target="/ppt/notesSlides/notesSlide2.xml" Id="R7bfffd20ec1f43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7851706fc4390" /><Relationship Type="http://schemas.openxmlformats.org/officeDocument/2006/relationships/notesSlide" Target="/ppt/notesSlides/notesSlide3.xml" Id="Rea0e624d6edb46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1e823f88d4968" /><Relationship Type="http://schemas.openxmlformats.org/officeDocument/2006/relationships/notesSlide" Target="/ppt/notesSlides/notesSlide4.xml" Id="Re8f8f8c3e4194b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fdd5ccfb146b5" /><Relationship Type="http://schemas.openxmlformats.org/officeDocument/2006/relationships/notesSlide" Target="/ppt/notesSlides/notesSlide5.xml" Id="R0a3747c145d14a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f0dafc0f049f7" /><Relationship Type="http://schemas.openxmlformats.org/officeDocument/2006/relationships/notesSlide" Target="/ppt/notesSlides/notesSlide6.xml" Id="Rb7d620f323b441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0389c56d8453e" /><Relationship Type="http://schemas.openxmlformats.org/officeDocument/2006/relationships/notesSlide" Target="/ppt/notesSlides/notesSlide7.xml" Id="Rd49256b7f73c43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3c10190ca4a3f" /><Relationship Type="http://schemas.openxmlformats.org/officeDocument/2006/relationships/notesSlide" Target="/ppt/notesSlides/notesSlide8.xml" Id="Re740091200db4d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bca27d0cd4ff3" /><Relationship Type="http://schemas.openxmlformats.org/officeDocument/2006/relationships/notesSlide" Target="/ppt/notesSlides/notesSlide9.xml" Id="Re56519c849fb4d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1-eyebrow">
            <a:extLst xmlns:a="http://schemas.openxmlformats.org/drawingml/2006/main">
              <a:ext uri="{FF2B5EF4-FFF2-40B4-BE49-F238E27FC236}">
                <a16:creationId xmlns:a16="http://schemas.microsoft.com/office/drawing/2014/main" id="{19DB23FA-4E0C-401D-9CE6-BECAD3BF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ct-cli · Fallstudie OJBP</a:t>
            </a:r>
          </a:p>
        </p:txBody>
      </p:sp>
      <p:sp>
        <p:nvSpPr>
          <p:cNvPr id="2" name="s1-accent">
            <a:extLst xmlns:a="http://schemas.openxmlformats.org/drawingml/2006/main">
              <a:ext uri="{FF2B5EF4-FFF2-40B4-BE49-F238E27FC236}">
                <a16:creationId xmlns:a16="http://schemas.microsoft.com/office/drawing/2014/main" id="{5D73EB8A-F10C-44C6-8FAA-266DD7A6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1-title">
            <a:extLst xmlns:a="http://schemas.openxmlformats.org/drawingml/2006/main">
              <a:ext uri="{FF2B5EF4-FFF2-40B4-BE49-F238E27FC236}">
                <a16:creationId xmlns:a16="http://schemas.microsoft.com/office/drawing/2014/main" id="{57BDC387-9B41-4BC0-BB6D-A8AC0358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810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ChurchTools</a:t>
            </a:r>
          </a:p>
          <a:p xmlns:a="http://schemas.openxmlformats.org/drawingml/2006/main">
            <a:pPr algn="l">
              <a:defRPr sz="5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Configuration as Code</a:t>
            </a:r>
          </a:p>
        </p:txBody>
      </p:sp>
      <p:sp>
        <p:nvSpPr>
          <p:cNvPr id="4" name="s1-subtitle">
            <a:extLst xmlns:a="http://schemas.openxmlformats.org/drawingml/2006/main">
              <a:ext uri="{FF2B5EF4-FFF2-40B4-BE49-F238E27FC236}">
                <a16:creationId xmlns:a16="http://schemas.microsoft.com/office/drawing/2014/main" id="{65AA9BE0-605F-40F6-8FDC-085DB9F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85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Vom erprobten Prozess zum wiederholbaren Soll-Zustand</a:t>
            </a:r>
          </a:p>
        </p:txBody>
      </p:sp>
    </p:spTree>
    <p:extLst>
      <p:ext uri="{BB962C8B-B14F-4D97-AF65-F5344CB8AC3E}">
        <p14:creationId xmlns:p14="http://schemas.microsoft.com/office/powerpoint/2010/main" val="10017852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DB4236E-D141-4DB7-9856-4F154BDF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 Weg zum Blueprint hat fünf verschiedene Aufgaben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B86ED7F-C568-4BA7-9861-EC1F4AF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s2-flow">
            <a:extLst xmlns:a="http://schemas.openxmlformats.org/drawingml/2006/main">
              <a:ext uri="{FF2B5EF4-FFF2-40B4-BE49-F238E27FC236}">
                <a16:creationId xmlns:a16="http://schemas.microsoft.com/office/drawing/2014/main" id="{4743B60A-6E5A-4E89-80BA-3C276921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2-node-0">
            <a:extLst xmlns:a="http://schemas.openxmlformats.org/drawingml/2006/main">
              <a:ext uri="{FF2B5EF4-FFF2-40B4-BE49-F238E27FC236}">
                <a16:creationId xmlns:a16="http://schemas.microsoft.com/office/drawing/2014/main" id="{6255F963-C36E-491F-9F0E-24807B49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num-0">
            <a:extLst xmlns:a="http://schemas.openxmlformats.org/drawingml/2006/main">
              <a:ext uri="{FF2B5EF4-FFF2-40B4-BE49-F238E27FC236}">
                <a16:creationId xmlns:a16="http://schemas.microsoft.com/office/drawing/2014/main" id="{F2F1CC44-6D48-4660-BA93-FA8B585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s2-label-0">
            <a:extLst xmlns:a="http://schemas.openxmlformats.org/drawingml/2006/main">
              <a:ext uri="{FF2B5EF4-FFF2-40B4-BE49-F238E27FC236}">
                <a16:creationId xmlns:a16="http://schemas.microsoft.com/office/drawing/2014/main" id="{CE8D047D-D0B2-491C-B59A-ACDD9176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ERPROBEN</a:t>
            </a:r>
          </a:p>
        </p:txBody>
      </p:sp>
      <p:sp>
        <p:nvSpPr>
          <p:cNvPr id="7" name="s2-body-0">
            <a:extLst xmlns:a="http://schemas.openxmlformats.org/drawingml/2006/main">
              <a:ext uri="{FF2B5EF4-FFF2-40B4-BE49-F238E27FC236}">
                <a16:creationId xmlns:a16="http://schemas.microsoft.com/office/drawing/2014/main" id="{905DEA5F-4EBA-4F05-B4BF-648AA259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Prozess manuell</a:t>
            </a:r>
          </a:p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zum Laufen bringen</a:t>
            </a:r>
          </a:p>
        </p:txBody>
      </p:sp>
      <p:sp>
        <p:nvSpPr>
          <p:cNvPr id="8" name="s2-node-1">
            <a:extLst xmlns:a="http://schemas.openxmlformats.org/drawingml/2006/main">
              <a:ext uri="{FF2B5EF4-FFF2-40B4-BE49-F238E27FC236}">
                <a16:creationId xmlns:a16="http://schemas.microsoft.com/office/drawing/2014/main" id="{FA1F9748-401F-4410-B107-9E74E91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num-1">
            <a:extLst xmlns:a="http://schemas.openxmlformats.org/drawingml/2006/main">
              <a:ext uri="{FF2B5EF4-FFF2-40B4-BE49-F238E27FC236}">
                <a16:creationId xmlns:a16="http://schemas.microsoft.com/office/drawing/2014/main" id="{A0DBCCEB-475F-42E1-A6A5-1B031D22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s2-label-1">
            <a:extLst xmlns:a="http://schemas.openxmlformats.org/drawingml/2006/main">
              <a:ext uri="{FF2B5EF4-FFF2-40B4-BE49-F238E27FC236}">
                <a16:creationId xmlns:a16="http://schemas.microsoft.com/office/drawing/2014/main" id="{1A3F3580-B852-4309-8FC8-2D3FA9FC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038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ADOPT</a:t>
            </a:r>
          </a:p>
        </p:txBody>
      </p:sp>
      <p:sp>
        <p:nvSpPr>
          <p:cNvPr id="11" name="s2-body-1">
            <a:extLst xmlns:a="http://schemas.openxmlformats.org/drawingml/2006/main">
              <a:ext uri="{FF2B5EF4-FFF2-40B4-BE49-F238E27FC236}">
                <a16:creationId xmlns:a16="http://schemas.microsoft.com/office/drawing/2014/main" id="{78A2532C-503C-4C9A-85A7-568A34CB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Elemente als</a:t>
            </a:r>
          </a:p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State erfassen</a:t>
            </a:r>
          </a:p>
        </p:txBody>
      </p:sp>
      <p:sp>
        <p:nvSpPr>
          <p:cNvPr id="12" name="s2-node-2">
            <a:extLst xmlns:a="http://schemas.openxmlformats.org/drawingml/2006/main">
              <a:ext uri="{FF2B5EF4-FFF2-40B4-BE49-F238E27FC236}">
                <a16:creationId xmlns:a16="http://schemas.microsoft.com/office/drawing/2014/main" id="{B2FF35A2-AA85-49F9-A633-3635CB04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2-num-2">
            <a:extLst xmlns:a="http://schemas.openxmlformats.org/drawingml/2006/main">
              <a:ext uri="{FF2B5EF4-FFF2-40B4-BE49-F238E27FC236}">
                <a16:creationId xmlns:a16="http://schemas.microsoft.com/office/drawing/2014/main" id="{363B6A70-552D-4B9F-A35F-101FDFA4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s2-label-2">
            <a:extLst xmlns:a="http://schemas.openxmlformats.org/drawingml/2006/main">
              <a:ext uri="{FF2B5EF4-FFF2-40B4-BE49-F238E27FC236}">
                <a16:creationId xmlns:a16="http://schemas.microsoft.com/office/drawing/2014/main" id="{1EE1A1DA-3A49-4395-984D-3AB23599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38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BLUEPRINT</a:t>
            </a:r>
          </a:p>
        </p:txBody>
      </p:sp>
      <p:sp>
        <p:nvSpPr>
          <p:cNvPr id="15" name="s2-body-2">
            <a:extLst xmlns:a="http://schemas.openxmlformats.org/drawingml/2006/main">
              <a:ext uri="{FF2B5EF4-FFF2-40B4-BE49-F238E27FC236}">
                <a16:creationId xmlns:a16="http://schemas.microsoft.com/office/drawing/2014/main" id="{314C6375-6BA9-453F-BE79-B542CAC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24250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Blueprint für neue</a:t>
            </a:r>
          </a:p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Inkarnationen gewinnen</a:t>
            </a:r>
          </a:p>
        </p:txBody>
      </p:sp>
      <p:sp>
        <p:nvSpPr>
          <p:cNvPr id="16" name="s2-node-3">
            <a:extLst xmlns:a="http://schemas.openxmlformats.org/drawingml/2006/main">
              <a:ext uri="{FF2B5EF4-FFF2-40B4-BE49-F238E27FC236}">
                <a16:creationId xmlns:a16="http://schemas.microsoft.com/office/drawing/2014/main" id="{E6AB8C08-6492-4CA5-B4D5-34E752A8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2-num-3">
            <a:extLst xmlns:a="http://schemas.openxmlformats.org/drawingml/2006/main">
              <a:ext uri="{FF2B5EF4-FFF2-40B4-BE49-F238E27FC236}">
                <a16:creationId xmlns:a16="http://schemas.microsoft.com/office/drawing/2014/main" id="{FE7A01D5-5D49-470A-9D32-FC95CF1B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s2-label-3">
            <a:extLst xmlns:a="http://schemas.openxmlformats.org/drawingml/2006/main">
              <a:ext uri="{FF2B5EF4-FFF2-40B4-BE49-F238E27FC236}">
                <a16:creationId xmlns:a16="http://schemas.microsoft.com/office/drawing/2014/main" id="{A472E51F-2D97-4ED4-BC48-5A768CFF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38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19" name="s2-body-3">
            <a:extLst xmlns:a="http://schemas.openxmlformats.org/drawingml/2006/main">
              <a:ext uri="{FF2B5EF4-FFF2-40B4-BE49-F238E27FC236}">
                <a16:creationId xmlns:a16="http://schemas.microsoft.com/office/drawing/2014/main" id="{64804B99-3F8D-42A2-832A-7542D5EA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24250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Ist und Soll</a:t>
            </a:r>
          </a:p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vergleichen</a:t>
            </a:r>
          </a:p>
        </p:txBody>
      </p:sp>
      <p:sp>
        <p:nvSpPr>
          <p:cNvPr id="20" name="s2-node-4">
            <a:extLst xmlns:a="http://schemas.openxmlformats.org/drawingml/2006/main">
              <a:ext uri="{FF2B5EF4-FFF2-40B4-BE49-F238E27FC236}">
                <a16:creationId xmlns:a16="http://schemas.microsoft.com/office/drawing/2014/main" id="{02979434-A1EC-4131-9D5D-B2D080CD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81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num-4">
            <a:extLst xmlns:a="http://schemas.openxmlformats.org/drawingml/2006/main">
              <a:ext uri="{FF2B5EF4-FFF2-40B4-BE49-F238E27FC236}">
                <a16:creationId xmlns:a16="http://schemas.microsoft.com/office/drawing/2014/main" id="{E30009DD-4592-4B3D-97E6-01B5C9F3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38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2" name="s2-label-4">
            <a:extLst xmlns:a="http://schemas.openxmlformats.org/drawingml/2006/main">
              <a:ext uri="{FF2B5EF4-FFF2-40B4-BE49-F238E27FC236}">
                <a16:creationId xmlns:a16="http://schemas.microsoft.com/office/drawing/2014/main" id="{A9830362-BAE2-42A5-B9E9-E06F079D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38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APPLY</a:t>
            </a:r>
          </a:p>
        </p:txBody>
      </p:sp>
      <p:sp>
        <p:nvSpPr>
          <p:cNvPr id="23" name="s2-body-4">
            <a:extLst xmlns:a="http://schemas.openxmlformats.org/drawingml/2006/main">
              <a:ext uri="{FF2B5EF4-FFF2-40B4-BE49-F238E27FC236}">
                <a16:creationId xmlns:a16="http://schemas.microsoft.com/office/drawing/2014/main" id="{69BAA4F1-E040-4114-80C6-F48E488B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524250"/>
            <a:ext cx="1524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geprüften Plan</a:t>
            </a:r>
          </a:p>
          <a:p xmlns:a="http://schemas.openxmlformats.org/drawingml/2006/main">
            <a:pPr algn="ctr">
              <a:def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umsetzen</a:t>
            </a:r>
          </a:p>
        </p:txBody>
      </p:sp>
      <p:sp>
        <p:nvSpPr>
          <p:cNvPr id="24" name="s2-callout">
            <a:extLst xmlns:a="http://schemas.openxmlformats.org/drawingml/2006/main">
              <a:ext uri="{FF2B5EF4-FFF2-40B4-BE49-F238E27FC236}">
                <a16:creationId xmlns:a16="http://schemas.microsoft.com/office/drawing/2014/main" id="{65C43A45-6E22-4A2F-A722-1F012B48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Schritt 3 ist keine Kopieroperation, sondern Modellierungsarbeit.</a:t>
            </a:r>
          </a:p>
        </p:txBody>
      </p:sp>
    </p:spTree>
    <p:extLst>
      <p:ext uri="{BB962C8B-B14F-4D97-AF65-F5344CB8AC3E}">
        <p14:creationId xmlns:p14="http://schemas.microsoft.com/office/powerpoint/2010/main" val="1798351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685F7E3-E2CF-4A40-BD49-29D13AA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Zuerst muss der Prozess fachlich funktionieren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A00DFDD0-D32B-4BFB-B7B7-6472479C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s3-tree-panel">
            <a:extLst xmlns:a="http://schemas.openxmlformats.org/drawingml/2006/main">
              <a:ext uri="{FF2B5EF4-FFF2-40B4-BE49-F238E27FC236}">
                <a16:creationId xmlns:a16="http://schemas.microsoft.com/office/drawing/2014/main" id="{F0CABB76-62E6-44E3-9FBB-D4C5FAA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3-tree">
            <a:extLst xmlns:a="http://schemas.openxmlformats.org/drawingml/2006/main">
              <a:ext uri="{FF2B5EF4-FFF2-40B4-BE49-F238E27FC236}">
                <a16:creationId xmlns:a16="http://schemas.microsoft.com/office/drawing/2014/main" id="{1AF8A348-3622-4A8A-9B7F-919F040C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57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OJBP 2025/26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│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├─ Übersicht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├─ 1. Praktikum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├─ 2. Praktikum</a:t>
            </a:r>
          </a:p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└─ 3. Praktikum</a:t>
            </a:r>
          </a:p>
        </p:txBody>
      </p:sp>
      <p:sp>
        <p:nvSpPr>
          <p:cNvPr id="5" name="s3-main">
            <a:extLst xmlns:a="http://schemas.openxmlformats.org/drawingml/2006/main">
              <a:ext uri="{FF2B5EF4-FFF2-40B4-BE49-F238E27FC236}">
                <a16:creationId xmlns:a16="http://schemas.microsoft.com/office/drawing/2014/main" id="{683BF220-03ED-4A96-A6A5-01843C1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76400"/>
            <a:ext cx="4762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Klicken ist hier</a:t>
            </a:r>
          </a:p>
          <a:p xmlns:a="http://schemas.openxmlformats.org/drawingml/2006/main">
            <a:pPr algn="l">
              <a:def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kein Fehler.</a:t>
            </a:r>
          </a:p>
        </p:txBody>
      </p:sp>
      <p:sp>
        <p:nvSpPr>
          <p:cNvPr id="6" name="s3-accent">
            <a:extLst xmlns:a="http://schemas.openxmlformats.org/drawingml/2006/main">
              <a:ext uri="{FF2B5EF4-FFF2-40B4-BE49-F238E27FC236}">
                <a16:creationId xmlns:a16="http://schemas.microsoft.com/office/drawing/2014/main" id="{9376E474-36C9-42C6-8B96-DB33A55D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copy">
            <a:extLst xmlns:a="http://schemas.openxmlformats.org/drawingml/2006/main">
              <a:ext uri="{FF2B5EF4-FFF2-40B4-BE49-F238E27FC236}">
                <a16:creationId xmlns:a16="http://schemas.microsoft.com/office/drawing/2014/main" id="{6B5DD2E6-0D64-459D-818B-8194E957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243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Der erste Jahrgang ist ein Prototyp:</a:t>
            </a:r>
          </a:p>
          <a:p xmlns:a="http://schemas.openxmlformats.org/drawingml/2006/main">
            <a:pPr algn="l">
              <a:defRPr sz="19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Struktur, Felder und Regeln werden</a:t>
            </a:r>
          </a:p>
          <a:p xmlns:a="http://schemas.openxmlformats.org/drawingml/2006/main">
            <a:pPr algn="l">
              <a:defRPr sz="19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im echten Betrieb verstanden.</a:t>
            </a:r>
          </a:p>
        </p:txBody>
      </p:sp>
    </p:spTree>
    <p:extLst>
      <p:ext uri="{BB962C8B-B14F-4D97-AF65-F5344CB8AC3E}">
        <p14:creationId xmlns:p14="http://schemas.microsoft.com/office/powerpoint/2010/main" val="1943123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3394848-71FA-474C-B094-23EC51FE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Adoption macht den konkreten Bestand sichtbar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49B18BF-6D90-4763-83C1-5290DA2F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s4-left">
            <a:extLst xmlns:a="http://schemas.openxmlformats.org/drawingml/2006/main">
              <a:ext uri="{FF2B5EF4-FFF2-40B4-BE49-F238E27FC236}">
                <a16:creationId xmlns:a16="http://schemas.microsoft.com/office/drawing/2014/main" id="{10C51025-56E3-4233-ABD7-741AD0D9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4095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4-live">
            <a:extLst xmlns:a="http://schemas.openxmlformats.org/drawingml/2006/main">
              <a:ext uri="{FF2B5EF4-FFF2-40B4-BE49-F238E27FC236}">
                <a16:creationId xmlns:a16="http://schemas.microsoft.com/office/drawing/2014/main" id="{593D4B10-4A67-459C-958B-80748EAC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LIVE-SYSTEM</a:t>
            </a:r>
          </a:p>
        </p:txBody>
      </p:sp>
      <p:sp>
        <p:nvSpPr>
          <p:cNvPr id="5" name="s4-live-list">
            <a:extLst xmlns:a="http://schemas.openxmlformats.org/drawingml/2006/main">
              <a:ext uri="{FF2B5EF4-FFF2-40B4-BE49-F238E27FC236}">
                <a16:creationId xmlns:a16="http://schemas.microsoft.com/office/drawing/2014/main" id="{2C20C7E2-5F12-43A6-8222-D6060A8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3143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Gruppen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36 Mitgliedsfelder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dynamische Rulesets</a:t>
            </a:r>
          </a:p>
          <a:p xmlns:a="http://schemas.openxmlformats.org/drawingml/2006/main">
            <a:pPr algn="l">
              <a:def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konkrete IDs</a:t>
            </a:r>
          </a:p>
        </p:txBody>
      </p:sp>
      <p:sp>
        <p:nvSpPr>
          <p:cNvPr id="6" name="s4-arrow">
            <a:extLst xmlns:a="http://schemas.openxmlformats.org/drawingml/2006/main">
              <a:ext uri="{FF2B5EF4-FFF2-40B4-BE49-F238E27FC236}">
                <a16:creationId xmlns:a16="http://schemas.microsoft.com/office/drawing/2014/main" id="{7DD8BB0D-7B4B-492F-AE39-C4287E8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85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7" name="s4-right">
            <a:extLst xmlns:a="http://schemas.openxmlformats.org/drawingml/2006/main">
              <a:ext uri="{FF2B5EF4-FFF2-40B4-BE49-F238E27FC236}">
                <a16:creationId xmlns:a16="http://schemas.microsoft.com/office/drawing/2014/main" id="{9B7F1543-DD78-4762-885C-8EBA456D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58864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4-code-label">
            <a:extLst xmlns:a="http://schemas.openxmlformats.org/drawingml/2006/main">
              <a:ext uri="{FF2B5EF4-FFF2-40B4-BE49-F238E27FC236}">
                <a16:creationId xmlns:a16="http://schemas.microsoft.com/office/drawing/2014/main" id="{E254DE37-DDB4-45DA-A220-483F8490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ADOPTIERTE DEKLARATIONEN</a:t>
            </a:r>
          </a:p>
        </p:txBody>
      </p:sp>
      <p:sp>
        <p:nvSpPr>
          <p:cNvPr id="9" name="s4-code">
            <a:extLst xmlns:a="http://schemas.openxmlformats.org/drawingml/2006/main">
              <a:ext uri="{FF2B5EF4-FFF2-40B4-BE49-F238E27FC236}">
                <a16:creationId xmlns:a16="http://schemas.microsoft.com/office/drawing/2014/main" id="{980AAE5A-4A6A-4C71-8A7B-6CDE3137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group({ id: 4711,</a:t>
            </a:r>
          </a:p>
          <a:p xmlns:a="http://schemas.openxmlformats.org/drawingml/2006/main">
            <a:pPr algn="l">
              <a:defRPr sz="21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name: "OJBP 2025/26",</a:t>
            </a:r>
          </a:p>
          <a:p xmlns:a="http://schemas.openxmlformats.org/drawingml/2006/main">
            <a:pPr algn="l">
              <a:defRPr sz="217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  parentId: 123, ... })</a:t>
            </a:r>
          </a:p>
        </p:txBody>
      </p:sp>
      <p:sp>
        <p:nvSpPr>
          <p:cNvPr id="10" name="s4-bottom">
            <a:extLst xmlns:a="http://schemas.openxmlformats.org/drawingml/2006/main">
              <a:ext uri="{FF2B5EF4-FFF2-40B4-BE49-F238E27FC236}">
                <a16:creationId xmlns:a16="http://schemas.microsoft.com/office/drawing/2014/main" id="{D043C8CF-F170-40E3-A71B-A9341402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Adoption erhält Fakten – einschließlich ihrer Zufälligkeiten.</a:t>
            </a:r>
          </a:p>
        </p:txBody>
      </p:sp>
    </p:spTree>
    <p:extLst>
      <p:ext uri="{BB962C8B-B14F-4D97-AF65-F5344CB8AC3E}">
        <p14:creationId xmlns:p14="http://schemas.microsoft.com/office/powerpoint/2010/main" val="357537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DA8347BC-7800-48A3-B797-D31C6D32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Ein kopierter State ist noch kein Blueprint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7B36FD4A-361B-4D1A-A19B-4AD3A347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s5-state">
            <a:extLst xmlns:a="http://schemas.openxmlformats.org/drawingml/2006/main">
              <a:ext uri="{FF2B5EF4-FFF2-40B4-BE49-F238E27FC236}">
                <a16:creationId xmlns:a16="http://schemas.microsoft.com/office/drawing/2014/main" id="{F0169F08-41AD-4274-871B-5292A43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</p:txBody>
      </p:sp>
      <p:sp>
        <p:nvSpPr>
          <p:cNvPr id="4" name="s5-not-eq">
            <a:extLst xmlns:a="http://schemas.openxmlformats.org/drawingml/2006/main">
              <a:ext uri="{FF2B5EF4-FFF2-40B4-BE49-F238E27FC236}">
                <a16:creationId xmlns:a16="http://schemas.microsoft.com/office/drawing/2014/main" id="{B5D2F668-2DE6-4F8E-A149-C6D30370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≠</a:t>
            </a:r>
          </a:p>
        </p:txBody>
      </p:sp>
      <p:sp>
        <p:nvSpPr>
          <p:cNvPr id="5" name="s5-blueprint">
            <a:extLst xmlns:a="http://schemas.openxmlformats.org/drawingml/2006/main">
              <a:ext uri="{FF2B5EF4-FFF2-40B4-BE49-F238E27FC236}">
                <a16:creationId xmlns:a16="http://schemas.microsoft.com/office/drawing/2014/main" id="{5E4FA850-EE1A-4E19-9EFF-7B0E8A9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Blueprint</a:t>
            </a:r>
          </a:p>
        </p:txBody>
      </p:sp>
      <p:sp>
        <p:nvSpPr>
          <p:cNvPr id="6" name="s5-rule">
            <a:extLst xmlns:a="http://schemas.openxmlformats.org/drawingml/2006/main">
              <a:ext uri="{FF2B5EF4-FFF2-40B4-BE49-F238E27FC236}">
                <a16:creationId xmlns:a16="http://schemas.microsoft.com/office/drawing/2014/main" id="{763A1276-3A9B-4EEC-8FB6-197DC30D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5-left">
            <a:extLst xmlns:a="http://schemas.openxmlformats.org/drawingml/2006/main">
              <a:ext uri="{FF2B5EF4-FFF2-40B4-BE49-F238E27FC236}">
                <a16:creationId xmlns:a16="http://schemas.microsoft.com/office/drawing/2014/main" id="{11A3A141-AD8E-4B32-91AC-E602F9D2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konkrete IDs</a:t>
            </a:r>
          </a:p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2025/26 im Namen</a:t>
            </a:r>
          </a:p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zufällige Reihenfolge</a:t>
            </a:r>
          </a:p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Host-Referenzen</a:t>
            </a:r>
          </a:p>
        </p:txBody>
      </p:sp>
      <p:sp>
        <p:nvSpPr>
          <p:cNvPr id="8" name="s5-right">
            <a:extLst xmlns:a="http://schemas.openxmlformats.org/drawingml/2006/main">
              <a:ext uri="{FF2B5EF4-FFF2-40B4-BE49-F238E27FC236}">
                <a16:creationId xmlns:a16="http://schemas.microsoft.com/office/drawing/2014/main" id="{2D30345E-E8F2-4928-837D-8B069B50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stabile Invarianten</a:t>
            </a:r>
          </a:p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Jahr als Parameter</a:t>
            </a:r>
          </a:p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logische Referenzen</a:t>
            </a:r>
          </a:p>
          <a:p xmlns:a="http://schemas.openxmlformats.org/drawingml/2006/main">
            <a:pPr algn="ctr">
              <a:def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berechnete Werte</a:t>
            </a:r>
          </a:p>
        </p:txBody>
      </p:sp>
      <p:sp>
        <p:nvSpPr>
          <p:cNvPr id="9" name="s5-callout">
            <a:extLst xmlns:a="http://schemas.openxmlformats.org/drawingml/2006/main">
              <a:ext uri="{FF2B5EF4-FFF2-40B4-BE49-F238E27FC236}">
                <a16:creationId xmlns:a16="http://schemas.microsoft.com/office/drawing/2014/main" id="{6C71AF14-0BF7-4AEE-97A7-0C2EA429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Genau diesen Übersetzungsschritt automatisiert ct-cli heute noch nicht autonom.</a:t>
            </a:r>
          </a:p>
        </p:txBody>
      </p:sp>
    </p:spTree>
    <p:extLst>
      <p:ext uri="{BB962C8B-B14F-4D97-AF65-F5344CB8AC3E}">
        <p14:creationId xmlns:p14="http://schemas.microsoft.com/office/powerpoint/2010/main" val="12256357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1A41CA1-1D5D-486D-87E4-05FCA649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Der Coding-Agent kann die Abstraktion vorbereiten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6C50E03A-610D-4A37-BCDA-B329785A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s6-panel-0">
            <a:extLst xmlns:a="http://schemas.openxmlformats.org/drawingml/2006/main">
              <a:ext uri="{FF2B5EF4-FFF2-40B4-BE49-F238E27FC236}">
                <a16:creationId xmlns:a16="http://schemas.microsoft.com/office/drawing/2014/main" id="{65128887-9B14-4260-A946-E8CC0CA1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6-head-0">
            <a:extLst xmlns:a="http://schemas.openxmlformats.org/drawingml/2006/main">
              <a:ext uri="{FF2B5EF4-FFF2-40B4-BE49-F238E27FC236}">
                <a16:creationId xmlns:a16="http://schemas.microsoft.com/office/drawing/2014/main" id="{A36E1482-B671-4FEB-BA0A-50077845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INVARIANTEN</a:t>
            </a:r>
          </a:p>
        </p:txBody>
      </p:sp>
      <p:sp>
        <p:nvSpPr>
          <p:cNvPr id="5" name="s6-body-0">
            <a:extLst xmlns:a="http://schemas.openxmlformats.org/drawingml/2006/main">
              <a:ext uri="{FF2B5EF4-FFF2-40B4-BE49-F238E27FC236}">
                <a16:creationId xmlns:a16="http://schemas.microsoft.com/office/drawing/2014/main" id="{4F698605-EF1F-4524-8A6A-A352EAD7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800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Welche Gruppen,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Felder und Regeln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gehören immer dazu?</a:t>
            </a:r>
          </a:p>
        </p:txBody>
      </p:sp>
      <p:sp>
        <p:nvSpPr>
          <p:cNvPr id="6" name="s6-panel-1">
            <a:extLst xmlns:a="http://schemas.openxmlformats.org/drawingml/2006/main">
              <a:ext uri="{FF2B5EF4-FFF2-40B4-BE49-F238E27FC236}">
                <a16:creationId xmlns:a16="http://schemas.microsoft.com/office/drawing/2014/main" id="{3F6331B4-960E-4F75-A95D-3960B76C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head-1">
            <a:extLst xmlns:a="http://schemas.openxmlformats.org/drawingml/2006/main">
              <a:ext uri="{FF2B5EF4-FFF2-40B4-BE49-F238E27FC236}">
                <a16:creationId xmlns:a16="http://schemas.microsoft.com/office/drawing/2014/main" id="{74B0FFCE-865C-4BCA-89D4-7656BAF6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47875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PARAMETER</a:t>
            </a:r>
          </a:p>
        </p:txBody>
      </p:sp>
      <p:sp>
        <p:nvSpPr>
          <p:cNvPr id="8" name="s6-body-1">
            <a:extLst xmlns:a="http://schemas.openxmlformats.org/drawingml/2006/main">
              <a:ext uri="{FF2B5EF4-FFF2-40B4-BE49-F238E27FC236}">
                <a16:creationId xmlns:a16="http://schemas.microsoft.com/office/drawing/2014/main" id="{EF56F16F-80DA-47AE-9D9D-FF6C0609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800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Was ändert sich je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Jahrgang oder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Zielsystem?</a:t>
            </a:r>
          </a:p>
        </p:txBody>
      </p:sp>
      <p:sp>
        <p:nvSpPr>
          <p:cNvPr id="9" name="s6-panel-2">
            <a:extLst xmlns:a="http://schemas.openxmlformats.org/drawingml/2006/main">
              <a:ext uri="{FF2B5EF4-FFF2-40B4-BE49-F238E27FC236}">
                <a16:creationId xmlns:a16="http://schemas.microsoft.com/office/drawing/2014/main" id="{DA92A3DD-D056-4E99-A51F-96C9EC79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6-head-2">
            <a:extLst xmlns:a="http://schemas.openxmlformats.org/drawingml/2006/main">
              <a:ext uri="{FF2B5EF4-FFF2-40B4-BE49-F238E27FC236}">
                <a16:creationId xmlns:a16="http://schemas.microsoft.com/office/drawing/2014/main" id="{9A4E1B4F-53A8-427A-83C3-5AB17DD4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47875"/>
            <a:ext cx="2800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REFERENZEN</a:t>
            </a:r>
          </a:p>
        </p:txBody>
      </p:sp>
      <p:sp>
        <p:nvSpPr>
          <p:cNvPr id="11" name="s6-body-2">
            <a:extLst xmlns:a="http://schemas.openxmlformats.org/drawingml/2006/main">
              <a:ext uri="{FF2B5EF4-FFF2-40B4-BE49-F238E27FC236}">
                <a16:creationId xmlns:a16="http://schemas.microsoft.com/office/drawing/2014/main" id="{D9C78DFC-A394-412F-B134-29C5AB39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14625"/>
            <a:ext cx="28003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Welche IDs werden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zu Namen und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Beziehungen?</a:t>
            </a:r>
          </a:p>
        </p:txBody>
      </p:sp>
      <p:sp>
        <p:nvSpPr>
          <p:cNvPr id="12" name="s6-code">
            <a:extLst xmlns:a="http://schemas.openxmlformats.org/drawingml/2006/main">
              <a:ext uri="{FF2B5EF4-FFF2-40B4-BE49-F238E27FC236}">
                <a16:creationId xmlns:a16="http://schemas.microsoft.com/office/drawing/2014/main" id="{E4A685BC-7BEB-4213-B205-C7194A1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9530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950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defineOjbp(ct, ["26/27", "27/28"]);</a:t>
            </a:r>
          </a:p>
        </p:txBody>
      </p:sp>
      <p:sp>
        <p:nvSpPr>
          <p:cNvPr id="13" name="s6-boundary">
            <a:extLst xmlns:a="http://schemas.openxmlformats.org/drawingml/2006/main">
              <a:ext uri="{FF2B5EF4-FFF2-40B4-BE49-F238E27FC236}">
                <a16:creationId xmlns:a16="http://schemas.microsoft.com/office/drawing/2014/main" id="{4F419589-3CE5-40DD-96F5-71631009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Der Agent schlägt das Modell vor. Der Mensch bestätigt die fachliche Absicht.</a:t>
            </a:r>
          </a:p>
        </p:txBody>
      </p:sp>
    </p:spTree>
    <p:extLst>
      <p:ext uri="{BB962C8B-B14F-4D97-AF65-F5344CB8AC3E}">
        <p14:creationId xmlns:p14="http://schemas.microsoft.com/office/powerpoint/2010/main" val="16525983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3C4BE3D-0B57-42FC-A08C-F3D9C4D5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· Der Plan macht die Abstraktion überprüfbar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CBB0C665-833B-4E1D-9BD3-A239BAA2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s7-current">
            <a:extLst xmlns:a="http://schemas.openxmlformats.org/drawingml/2006/main">
              <a:ext uri="{FF2B5EF4-FFF2-40B4-BE49-F238E27FC236}">
                <a16:creationId xmlns:a16="http://schemas.microsoft.com/office/drawing/2014/main" id="{B83A9069-A828-4C3D-8F9B-BA33258C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66875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7-current-head">
            <a:extLst xmlns:a="http://schemas.openxmlformats.org/drawingml/2006/main">
              <a:ext uri="{FF2B5EF4-FFF2-40B4-BE49-F238E27FC236}">
                <a16:creationId xmlns:a16="http://schemas.microsoft.com/office/drawing/2014/main" id="{849E46AC-7EF2-4AD3-95F2-81BF2AE0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IST-ZUSTAND</a:t>
            </a:r>
          </a:p>
        </p:txBody>
      </p:sp>
      <p:sp>
        <p:nvSpPr>
          <p:cNvPr id="5" name="s7-current-body">
            <a:extLst xmlns:a="http://schemas.openxmlformats.org/drawingml/2006/main">
              <a:ext uri="{FF2B5EF4-FFF2-40B4-BE49-F238E27FC236}">
                <a16:creationId xmlns:a16="http://schemas.microsoft.com/office/drawing/2014/main" id="{6B0F65B2-5897-4185-8AFF-BE5761AE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ChurchTools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Live-System</a:t>
            </a:r>
          </a:p>
        </p:txBody>
      </p:sp>
      <p:sp>
        <p:nvSpPr>
          <p:cNvPr id="6" name="s7-desired">
            <a:extLst xmlns:a="http://schemas.openxmlformats.org/drawingml/2006/main">
              <a:ext uri="{FF2B5EF4-FFF2-40B4-BE49-F238E27FC236}">
                <a16:creationId xmlns:a16="http://schemas.microsoft.com/office/drawing/2014/main" id="{2B44A02B-EC36-4566-A0D9-7D7BEBD5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3429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desired-head">
            <a:extLst xmlns:a="http://schemas.openxmlformats.org/drawingml/2006/main">
              <a:ext uri="{FF2B5EF4-FFF2-40B4-BE49-F238E27FC236}">
                <a16:creationId xmlns:a16="http://schemas.microsoft.com/office/drawing/2014/main" id="{674D4F62-66A4-48C9-A46C-49E25F40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SOLL-ZUSTAND</a:t>
            </a:r>
          </a:p>
        </p:txBody>
      </p:sp>
      <p:sp>
        <p:nvSpPr>
          <p:cNvPr id="8" name="s7-desired-body">
            <a:extLst xmlns:a="http://schemas.openxmlformats.org/drawingml/2006/main">
              <a:ext uri="{FF2B5EF4-FFF2-40B4-BE49-F238E27FC236}">
                <a16:creationId xmlns:a16="http://schemas.microsoft.com/office/drawing/2014/main" id="{D81ED7D0-0EB7-4B36-A55F-7DF3D397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Blueprint +</a:t>
            </a:r>
          </a:p>
          <a:p xmlns:a="http://schemas.openxmlformats.org/drawingml/2006/main">
            <a:pPr algn="l">
              <a:def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Parameter</a:t>
            </a:r>
          </a:p>
        </p:txBody>
      </p:sp>
      <p:sp>
        <p:nvSpPr>
          <p:cNvPr id="9" name="s7-arrow-l">
            <a:extLst xmlns:a="http://schemas.openxmlformats.org/drawingml/2006/main">
              <a:ext uri="{FF2B5EF4-FFF2-40B4-BE49-F238E27FC236}">
                <a16:creationId xmlns:a16="http://schemas.microsoft.com/office/drawing/2014/main" id="{54C3DB02-145F-4CDE-8FB1-C5F3AF6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0" name="s7-plan">
            <a:extLst xmlns:a="http://schemas.openxmlformats.org/drawingml/2006/main">
              <a:ext uri="{FF2B5EF4-FFF2-40B4-BE49-F238E27FC236}">
                <a16:creationId xmlns:a16="http://schemas.microsoft.com/office/drawing/2014/main" id="{2B899C26-6A0F-4469-A087-A1C9FCF9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33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ct plan</a:t>
            </a:r>
          </a:p>
        </p:txBody>
      </p:sp>
      <p:sp>
        <p:nvSpPr>
          <p:cNvPr id="11" name="s7-arrow-r">
            <a:extLst xmlns:a="http://schemas.openxmlformats.org/drawingml/2006/main">
              <a:ext uri="{FF2B5EF4-FFF2-40B4-BE49-F238E27FC236}">
                <a16:creationId xmlns:a16="http://schemas.microsoft.com/office/drawing/2014/main" id="{AB1FCBD7-4A76-4639-9690-A9A42139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336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←</a:t>
            </a:r>
          </a:p>
        </p:txBody>
      </p:sp>
      <p:sp>
        <p:nvSpPr>
          <p:cNvPr id="12" name="s7-result">
            <a:extLst xmlns:a="http://schemas.openxmlformats.org/drawingml/2006/main">
              <a:ext uri="{FF2B5EF4-FFF2-40B4-BE49-F238E27FC236}">
                <a16:creationId xmlns:a16="http://schemas.microsoft.com/office/drawing/2014/main" id="{CAE6A46B-8B07-4A8E-8273-E175DC9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619625"/>
            <a:ext cx="790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7-result-text">
            <a:extLst xmlns:a="http://schemas.openxmlformats.org/drawingml/2006/main">
              <a:ext uri="{FF2B5EF4-FFF2-40B4-BE49-F238E27FC236}">
                <a16:creationId xmlns:a16="http://schemas.microsoft.com/office/drawing/2014/main" id="{983BF949-4A09-44AF-A9C0-52930BE7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339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1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 create    ~ update    = no-op</a:t>
            </a:r>
          </a:p>
        </p:txBody>
      </p:sp>
    </p:spTree>
    <p:extLst>
      <p:ext uri="{BB962C8B-B14F-4D97-AF65-F5344CB8AC3E}">
        <p14:creationId xmlns:p14="http://schemas.microsoft.com/office/powerpoint/2010/main" val="50932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BB06B89E-A81D-44EE-AF2C-B7A26CB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· Apply setzt nur den geprüften Plan um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5BD55DBB-3A21-47EC-ACA2-09568B3E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s8-plan">
            <a:extLst xmlns:a="http://schemas.openxmlformats.org/drawingml/2006/main">
              <a:ext uri="{FF2B5EF4-FFF2-40B4-BE49-F238E27FC236}">
                <a16:creationId xmlns:a16="http://schemas.microsoft.com/office/drawing/2014/main" id="{EF14933F-79AC-4A16-878F-F0748A85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4" name="s8-plan-body">
            <a:extLst xmlns:a="http://schemas.openxmlformats.org/drawingml/2006/main">
              <a:ext uri="{FF2B5EF4-FFF2-40B4-BE49-F238E27FC236}">
                <a16:creationId xmlns:a16="http://schemas.microsoft.com/office/drawing/2014/main" id="{C19C97B2-7A9A-4ABE-B61C-FA86227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38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Gruppen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36 Mitgliedsfelder</a:t>
            </a:r>
          </a:p>
          <a:p xmlns:a="http://schemas.openxmlformats.org/drawingml/2006/main">
            <a:pPr algn="ctr"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 Rulesets</a:t>
            </a:r>
          </a:p>
        </p:txBody>
      </p:sp>
      <p:sp>
        <p:nvSpPr>
          <p:cNvPr id="5" name="s8-arrow1">
            <a:extLst xmlns:a="http://schemas.openxmlformats.org/drawingml/2006/main">
              <a:ext uri="{FF2B5EF4-FFF2-40B4-BE49-F238E27FC236}">
                <a16:creationId xmlns:a16="http://schemas.microsoft.com/office/drawing/2014/main" id="{82842908-4214-4C86-9B26-7B67AB6F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48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6" name="s8-apply">
            <a:extLst xmlns:a="http://schemas.openxmlformats.org/drawingml/2006/main">
              <a:ext uri="{FF2B5EF4-FFF2-40B4-BE49-F238E27FC236}">
                <a16:creationId xmlns:a16="http://schemas.microsoft.com/office/drawing/2014/main" id="{24641802-C52A-4A5F-981E-B2A574C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8-apply-text">
            <a:extLst xmlns:a="http://schemas.openxmlformats.org/drawingml/2006/main">
              <a:ext uri="{FF2B5EF4-FFF2-40B4-BE49-F238E27FC236}">
                <a16:creationId xmlns:a16="http://schemas.microsoft.com/office/drawing/2014/main" id="{ACA75276-6708-4DA4-9AA8-07333053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ct apply</a:t>
            </a:r>
          </a:p>
        </p:txBody>
      </p:sp>
      <p:sp>
        <p:nvSpPr>
          <p:cNvPr id="8" name="s8-arrow2">
            <a:extLst xmlns:a="http://schemas.openxmlformats.org/drawingml/2006/main">
              <a:ext uri="{FF2B5EF4-FFF2-40B4-BE49-F238E27FC236}">
                <a16:creationId xmlns:a16="http://schemas.microsoft.com/office/drawing/2014/main" id="{749D1D7F-3ECA-4209-AC40-BD02D9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s8-after">
            <a:extLst xmlns:a="http://schemas.openxmlformats.org/drawingml/2006/main">
              <a:ext uri="{FF2B5EF4-FFF2-40B4-BE49-F238E27FC236}">
                <a16:creationId xmlns:a16="http://schemas.microsoft.com/office/drawing/2014/main" id="{42F0A870-9F39-4416-AB33-5C63020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FOLGEPLAN</a:t>
            </a:r>
          </a:p>
        </p:txBody>
      </p:sp>
      <p:sp>
        <p:nvSpPr>
          <p:cNvPr id="10" name="s8-value">
            <a:extLst xmlns:a="http://schemas.openxmlformats.org/drawingml/2006/main">
              <a:ext uri="{FF2B5EF4-FFF2-40B4-BE49-F238E27FC236}">
                <a16:creationId xmlns:a16="http://schemas.microsoft.com/office/drawing/2014/main" id="{5A33F938-005A-47D7-88F3-2D18F038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49</a:t>
            </a:r>
          </a:p>
        </p:txBody>
      </p:sp>
      <p:sp>
        <p:nvSpPr>
          <p:cNvPr id="11" name="s8-noops">
            <a:extLst xmlns:a="http://schemas.openxmlformats.org/drawingml/2006/main">
              <a:ext uri="{FF2B5EF4-FFF2-40B4-BE49-F238E27FC236}">
                <a16:creationId xmlns:a16="http://schemas.microsoft.com/office/drawing/2014/main" id="{4F35FED3-6EF8-46A2-BE4F-9040B887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No-ops</a:t>
            </a:r>
          </a:p>
        </p:txBody>
      </p:sp>
      <p:sp>
        <p:nvSpPr>
          <p:cNvPr id="12" name="s8-thesis">
            <a:extLst xmlns:a="http://schemas.openxmlformats.org/drawingml/2006/main">
              <a:ext uri="{FF2B5EF4-FFF2-40B4-BE49-F238E27FC236}">
                <a16:creationId xmlns:a16="http://schemas.microsoft.com/office/drawing/2014/main" id="{3CCEDA3F-B148-4F9C-9234-622E398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Konvergenz ist der Beweis: Nach Apply gibt es nichts mehr zu ändern.</a:t>
            </a:r>
          </a:p>
        </p:txBody>
      </p:sp>
    </p:spTree>
    <p:extLst>
      <p:ext uri="{BB962C8B-B14F-4D97-AF65-F5344CB8AC3E}">
        <p14:creationId xmlns:p14="http://schemas.microsoft.com/office/powerpoint/2010/main" val="17665326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9-eyebrow">
            <a:extLst xmlns:a="http://schemas.openxmlformats.org/drawingml/2006/main">
              <a:ext uri="{FF2B5EF4-FFF2-40B4-BE49-F238E27FC236}">
                <a16:creationId xmlns:a16="http://schemas.microsoft.com/office/drawing/2014/main" id="{BA5D859F-B7E8-4B55-92CF-1E09A77B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Die eigentliche Erkenntnis</a:t>
            </a:r>
          </a:p>
        </p:txBody>
      </p:sp>
      <p:sp>
        <p:nvSpPr>
          <p:cNvPr id="2" name="s9-main">
            <a:extLst xmlns:a="http://schemas.openxmlformats.org/drawingml/2006/main">
              <a:ext uri="{FF2B5EF4-FFF2-40B4-BE49-F238E27FC236}">
                <a16:creationId xmlns:a16="http://schemas.microsoft.com/office/drawing/2014/main" id="{7F80382E-5D6A-44A5-93DD-9D6CD162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Adoptieren erfasst.</a:t>
            </a:r>
          </a:p>
          <a:p xmlns:a="http://schemas.openxmlformats.org/drawingml/2006/main">
            <a:pPr algn="l">
              <a:defRPr sz="4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Abstrahieren macht wiederholbar.</a:t>
            </a:r>
          </a:p>
          <a:p xmlns:a="http://schemas.openxmlformats.org/drawingml/2006/main">
            <a:pPr algn="l">
              <a:defRPr sz="4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Planen schafft Vertrauen.</a:t>
            </a:r>
          </a:p>
        </p:txBody>
      </p:sp>
      <p:sp>
        <p:nvSpPr>
          <p:cNvPr id="3" name="s9-accent">
            <a:extLst xmlns:a="http://schemas.openxmlformats.org/drawingml/2006/main">
              <a:ext uri="{FF2B5EF4-FFF2-40B4-BE49-F238E27FC236}">
                <a16:creationId xmlns:a16="http://schemas.microsoft.com/office/drawing/2014/main" id="{5BD8CB45-54DD-4D3F-816B-923FD0FE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9-code-panel">
            <a:extLst xmlns:a="http://schemas.openxmlformats.org/drawingml/2006/main">
              <a:ext uri="{FF2B5EF4-FFF2-40B4-BE49-F238E27FC236}">
                <a16:creationId xmlns:a16="http://schemas.microsoft.com/office/drawing/2014/main" id="{B7E54D98-43D3-43C6-978D-8DE6E2B9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9-code">
            <a:extLst xmlns:a="http://schemas.openxmlformats.org/drawingml/2006/main">
              <a:ext uri="{FF2B5EF4-FFF2-40B4-BE49-F238E27FC236}">
                <a16:creationId xmlns:a16="http://schemas.microsoft.com/office/drawing/2014/main" id="{4DA7556B-6B39-4CBB-9806-E8BB90E4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000000"/>
                </a:solidFill>
                <a:latin typeface="Menlo"/>
                <a:ea typeface="Menlo"/>
                <a:cs typeface="Menlo"/>
              </a:rPr>
              <a:t>defineOjbp(ct, ["26/27", "27/28"]);</a:t>
            </a:r>
          </a:p>
        </p:txBody>
      </p:sp>
      <p:sp>
        <p:nvSpPr>
          <p:cNvPr id="6" name="s9-close">
            <a:extLst xmlns:a="http://schemas.openxmlformats.org/drawingml/2006/main">
              <a:ext uri="{FF2B5EF4-FFF2-40B4-BE49-F238E27FC236}">
                <a16:creationId xmlns:a16="http://schemas.microsoft.com/office/drawing/2014/main" id="{72B498BE-D0EC-4D13-ACF2-1197985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81600"/>
            <a:ext cx="3476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55B66"/>
                </a:solidFill>
                <a:latin typeface="Helvetica Neue"/>
                <a:ea typeface="Helvetica Neue"/>
                <a:cs typeface="Helvetica Neue"/>
              </a:rPr>
              <a:t>Das nächste Jahr wird ein Parameter – nicht wieder Klickarbeit.</a:t>
            </a:r>
          </a:p>
        </p:txBody>
      </p:sp>
    </p:spTree>
    <p:extLst>
      <p:ext uri="{BB962C8B-B14F-4D97-AF65-F5344CB8AC3E}">
        <p14:creationId xmlns:p14="http://schemas.microsoft.com/office/powerpoint/2010/main" val="481497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2026-08-27T14:52:24.9360000Z</dcterms:created>
  <dcterms:modified xsi:type="dcterms:W3CDTF">2026-08-27T14:52:24.9360000Z</dcterms:modified>
</coreProperties>
</file>